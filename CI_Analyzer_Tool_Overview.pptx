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6" d="100"/>
          <a:sy n="96" d="100"/>
        </p:scale>
        <p:origin x="77" y="14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rPr sz="2200" b="1">
                <a:solidFill>
                  <a:srgbClr val="FFFFFF"/>
                </a:solidFill>
                <a:latin typeface="Segoe UI"/>
              </a:rPr>
              <a:t>SAP Cloud Integration Analyzer Tool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C0E0"/>
                </a:solidFill>
                <a:latin typeface="Segoe UI"/>
              </a:defRPr>
            </a:pPr>
            <a:r>
              <a:rPr sz="1100" b="0" dirty="0">
                <a:solidFill>
                  <a:srgbClr val="A0C0E0"/>
                </a:solidFill>
                <a:latin typeface="Segoe UI"/>
              </a:rPr>
              <a:t>Automated NEO-to-Cloud Foundry Migration Assessment &amp; Readiness Analysis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51560"/>
            <a:ext cx="11475720" cy="963930"/>
          </a:xfrm>
          <a:prstGeom prst="roundRect">
            <a:avLst>
              <a:gd name="adj" fmla="val 4000"/>
            </a:avLst>
          </a:prstGeom>
          <a:solidFill>
            <a:srgbClr val="E8F4FD"/>
          </a:solidFill>
          <a:ln w="9525">
            <a:solidFill>
              <a:srgbClr val="0A6E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124712"/>
            <a:ext cx="11109960" cy="810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dirty="0">
                <a:solidFill>
                  <a:srgbClr val="1B2A4A"/>
                </a:solidFill>
                <a:latin typeface="Segoe UI"/>
              </a:rPr>
              <a:t>A Python-based desktop application that extracts data from SAP Cloud Integration tenants via OData APIs, </a:t>
            </a:r>
            <a:r>
              <a:rPr sz="1050" b="1" dirty="0">
                <a:solidFill>
                  <a:srgbClr val="1B2A4A"/>
                </a:solidFill>
                <a:latin typeface="Segoe UI"/>
              </a:rPr>
              <a:t>analyzes integration artifacts for NEO-to-CF migration readiness, </a:t>
            </a:r>
            <a:r>
              <a:rPr sz="1050" dirty="0">
                <a:solidFill>
                  <a:srgbClr val="1B2A4A"/>
                </a:solidFill>
                <a:latin typeface="Segoe UI"/>
              </a:rPr>
              <a:t>and generates comprehensive HTML reports with interactive dashboards, per-artifact &amp; per-package readiness scoring.</a:t>
            </a:r>
          </a:p>
          <a:p>
            <a:pPr>
              <a:spcBef>
                <a:spcPts val="400"/>
              </a:spcBef>
            </a:pPr>
            <a:endParaRPr lang="en-US" sz="900" b="1" dirty="0">
              <a:solidFill>
                <a:srgbClr val="0A6ED1"/>
              </a:solidFill>
              <a:latin typeface="Segoe UI"/>
            </a:endParaRPr>
          </a:p>
          <a:p>
            <a:pPr>
              <a:spcBef>
                <a:spcPts val="400"/>
              </a:spcBef>
            </a:pPr>
            <a:r>
              <a:rPr sz="1000" b="1" dirty="0">
                <a:solidFill>
                  <a:srgbClr val="0A6ED1"/>
                </a:solidFill>
                <a:latin typeface="Segoe UI"/>
              </a:rPr>
              <a:t>Tech Stack:  </a:t>
            </a:r>
            <a:r>
              <a:rPr sz="950" dirty="0">
                <a:solidFill>
                  <a:srgbClr val="556575"/>
                </a:solidFill>
                <a:latin typeface="Segoe UI"/>
              </a:rPr>
              <a:t>Python 3.11  |  </a:t>
            </a:r>
            <a:r>
              <a:rPr sz="950" dirty="0" err="1">
                <a:solidFill>
                  <a:srgbClr val="556575"/>
                </a:solidFill>
                <a:latin typeface="Segoe UI"/>
              </a:rPr>
              <a:t>CustomTkinter</a:t>
            </a:r>
            <a:r>
              <a:rPr sz="950" dirty="0">
                <a:solidFill>
                  <a:srgbClr val="556575"/>
                </a:solidFill>
                <a:latin typeface="Segoe UI"/>
              </a:rPr>
              <a:t> (GUI)  |  SQLite  |  OAuth 2.0 / Basic Auth  |  Bootstrap 5 + Chart.js (Reports)  |  </a:t>
            </a:r>
            <a:r>
              <a:rPr sz="950" dirty="0" err="1">
                <a:solidFill>
                  <a:srgbClr val="556575"/>
                </a:solidFill>
                <a:latin typeface="Segoe UI"/>
              </a:rPr>
              <a:t>PyInstaller</a:t>
            </a:r>
            <a:r>
              <a:rPr sz="950" dirty="0">
                <a:solidFill>
                  <a:srgbClr val="556575"/>
                </a:solidFill>
                <a:latin typeface="Segoe UI"/>
              </a:rPr>
              <a:t>  |  GitHub Actions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194560"/>
            <a:ext cx="3703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B2A4A"/>
                </a:solidFill>
                <a:latin typeface="Segoe UI"/>
              </a:rPr>
              <a:t>Version &amp; Content Analysis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450592"/>
            <a:ext cx="3703320" cy="19050"/>
          </a:xfrm>
          <a:prstGeom prst="rect">
            <a:avLst/>
          </a:prstGeom>
          <a:solidFill>
            <a:srgbClr val="0A6E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65760" y="2542032"/>
            <a:ext cx="3703320" cy="387705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2615184"/>
            <a:ext cx="3429000" cy="3520440"/>
          </a:xfrm>
          <a:prstGeom prst="rect">
            <a:avLst/>
          </a:prstGeom>
          <a:noFill/>
        </p:spPr>
        <p:txBody>
          <a:bodyPr wrap="square"/>
          <a:lstStyle/>
          <a:p>
            <a:endParaRPr dirty="0"/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100" b="1" dirty="0">
                <a:solidFill>
                  <a:srgbClr val="0A6ED1"/>
                </a:solidFill>
                <a:latin typeface="Segoe UI"/>
              </a:rPr>
              <a:t>•  </a:t>
            </a:r>
            <a:r>
              <a:rPr sz="1100" b="1" dirty="0">
                <a:solidFill>
                  <a:srgbClr val="1B2A4A"/>
                </a:solidFill>
                <a:latin typeface="Segoe UI"/>
              </a:rPr>
              <a:t>Standard Content Package Versions</a:t>
            </a:r>
            <a:endParaRPr lang="en-US" sz="1100" b="1" dirty="0">
              <a:solidFill>
                <a:srgbClr val="1B2A4A"/>
              </a:solidFill>
              <a:latin typeface="Segoe UI"/>
            </a:endParaRP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lang="en-IN" sz="1100" b="1" dirty="0">
                <a:solidFill>
                  <a:srgbClr val="1B2A4A"/>
                </a:solidFill>
                <a:latin typeface="Segoe UI"/>
              </a:rPr>
              <a:t>    </a:t>
            </a:r>
            <a:r>
              <a:rPr sz="1000" b="1" dirty="0">
                <a:solidFill>
                  <a:srgbClr val="0A6ED1"/>
                </a:solidFill>
                <a:latin typeface="Segoe UI"/>
              </a:rPr>
              <a:t>▸  </a:t>
            </a:r>
            <a:r>
              <a:rPr sz="1000" b="0" dirty="0">
                <a:solidFill>
                  <a:srgbClr val="556575"/>
                </a:solidFill>
                <a:latin typeface="Segoe UI"/>
              </a:rPr>
              <a:t>Compares Design-time vs. SAP Discover</a:t>
            </a:r>
            <a:r>
              <a:rPr lang="en-US" sz="1000" b="0" dirty="0">
                <a:solidFill>
                  <a:srgbClr val="556575"/>
                </a:solidFill>
                <a:latin typeface="Segoe UI"/>
              </a:rPr>
              <a:t> </a:t>
            </a:r>
            <a:r>
              <a:rPr sz="1000" b="0" dirty="0">
                <a:solidFill>
                  <a:srgbClr val="556575"/>
                </a:solidFill>
                <a:latin typeface="Segoe UI"/>
              </a:rPr>
              <a:t>versions</a:t>
            </a:r>
            <a:r>
              <a:rPr lang="en-IN" sz="1000" b="1" dirty="0">
                <a:solidFill>
                  <a:srgbClr val="0A6ED1"/>
                </a:solidFill>
                <a:latin typeface="Segoe UI"/>
              </a:rPr>
              <a:t> 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lang="en-IN" sz="1100" b="1" dirty="0">
                <a:solidFill>
                  <a:srgbClr val="0A6ED1"/>
                </a:solidFill>
                <a:latin typeface="Segoe UI"/>
              </a:rPr>
              <a:t>•</a:t>
            </a:r>
            <a:r>
              <a:rPr sz="1100" b="1" dirty="0">
                <a:solidFill>
                  <a:srgbClr val="0A6ED1"/>
                </a:solidFill>
                <a:latin typeface="Segoe UI"/>
              </a:rPr>
              <a:t>  </a:t>
            </a:r>
            <a:r>
              <a:rPr sz="1100" b="1" dirty="0">
                <a:solidFill>
                  <a:srgbClr val="1B2A4A"/>
                </a:solidFill>
                <a:latin typeface="Segoe UI"/>
              </a:rPr>
              <a:t>Artifact Version Checking</a:t>
            </a:r>
            <a:endParaRPr lang="en-US" sz="1100" b="1" dirty="0">
              <a:solidFill>
                <a:srgbClr val="1B2A4A"/>
              </a:solidFill>
              <a:latin typeface="Segoe UI"/>
            </a:endParaRP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lang="en-US" sz="1000" b="1" dirty="0">
                <a:solidFill>
                  <a:srgbClr val="0A6ED1"/>
                </a:solidFill>
                <a:latin typeface="Segoe UI"/>
              </a:rPr>
              <a:t>    </a:t>
            </a:r>
            <a:r>
              <a:rPr sz="1000" b="1" dirty="0">
                <a:solidFill>
                  <a:srgbClr val="0A6ED1"/>
                </a:solidFill>
                <a:latin typeface="Segoe UI"/>
              </a:rPr>
              <a:t>▸  </a:t>
            </a:r>
            <a:r>
              <a:rPr sz="1000" b="0" dirty="0">
                <a:solidFill>
                  <a:srgbClr val="556575"/>
                </a:solidFill>
                <a:latin typeface="Segoe UI"/>
              </a:rPr>
              <a:t>Tracks versions of Integration Flows, Value Mappings, Script Collections &amp; Message Mappings</a:t>
            </a:r>
            <a:endParaRPr lang="en-US" sz="1000" b="0" dirty="0">
              <a:solidFill>
                <a:srgbClr val="556575"/>
              </a:solidFill>
              <a:latin typeface="Segoe UI"/>
            </a:endParaRP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lang="en-US" sz="1000" b="1" dirty="0">
                <a:solidFill>
                  <a:srgbClr val="0A6ED1"/>
                </a:solidFill>
                <a:latin typeface="Segoe UI"/>
              </a:rPr>
              <a:t>    </a:t>
            </a:r>
            <a:r>
              <a:rPr sz="1000" b="1" dirty="0">
                <a:solidFill>
                  <a:srgbClr val="0A6ED1"/>
                </a:solidFill>
                <a:latin typeface="Segoe UI"/>
              </a:rPr>
              <a:t>▸  </a:t>
            </a:r>
            <a:r>
              <a:rPr sz="1000" b="0" dirty="0">
                <a:solidFill>
                  <a:srgbClr val="556575"/>
                </a:solidFill>
                <a:latin typeface="Segoe UI"/>
              </a:rPr>
              <a:t>Validates deployment status: Deployed &amp; Versioned / Draft / Not Deployed</a:t>
            </a:r>
          </a:p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1100" b="1" dirty="0">
                <a:solidFill>
                  <a:srgbClr val="0A6ED1"/>
                </a:solidFill>
                <a:latin typeface="Segoe UI"/>
              </a:rPr>
              <a:t>•  </a:t>
            </a:r>
            <a:r>
              <a:rPr sz="1100" b="1" dirty="0">
                <a:solidFill>
                  <a:srgbClr val="1B2A4A"/>
                </a:solidFill>
                <a:latin typeface="Segoe UI"/>
              </a:rPr>
              <a:t>Environment Variable Scanning</a:t>
            </a:r>
            <a:endParaRPr lang="en-US" sz="1100" b="1" dirty="0">
              <a:solidFill>
                <a:srgbClr val="1B2A4A"/>
              </a:solidFill>
              <a:latin typeface="Segoe UI"/>
            </a:endParaRPr>
          </a:p>
          <a:p>
            <a:pPr>
              <a:spcBef>
                <a:spcPts val="1000"/>
              </a:spcBef>
              <a:spcAft>
                <a:spcPts val="200"/>
              </a:spcAft>
            </a:pPr>
            <a:r>
              <a:rPr lang="en-IN" sz="1100" b="1" dirty="0">
                <a:solidFill>
                  <a:srgbClr val="1B2A4A"/>
                </a:solidFill>
                <a:latin typeface="Segoe UI"/>
              </a:rPr>
              <a:t>   </a:t>
            </a:r>
            <a:r>
              <a:rPr sz="1000" b="1" dirty="0">
                <a:solidFill>
                  <a:srgbClr val="0A6ED1"/>
                </a:solidFill>
                <a:latin typeface="Segoe UI"/>
              </a:rPr>
              <a:t>▸  </a:t>
            </a:r>
            <a:r>
              <a:rPr sz="1000" b="0" dirty="0">
                <a:solidFill>
                  <a:srgbClr val="556575"/>
                </a:solidFill>
                <a:latin typeface="Segoe UI"/>
              </a:rPr>
              <a:t>Scans Groovy, JavaScript &amp; XSLT files in IFlows, Script Collections &amp; Partner Director</a:t>
            </a:r>
            <a:r>
              <a:rPr lang="en-IN" sz="1000" b="0" dirty="0">
                <a:solidFill>
                  <a:srgbClr val="556575"/>
                </a:solidFill>
                <a:latin typeface="Segoe UI"/>
              </a:rPr>
              <a:t>y</a:t>
            </a:r>
            <a:endParaRPr lang="en-US" sz="1000" dirty="0">
              <a:solidFill>
                <a:srgbClr val="556575"/>
              </a:solidFill>
              <a:latin typeface="Segoe UI"/>
            </a:endParaRPr>
          </a:p>
          <a:p>
            <a:pPr>
              <a:spcBef>
                <a:spcPts val="1000"/>
              </a:spcBef>
              <a:spcAft>
                <a:spcPts val="200"/>
              </a:spcAft>
            </a:pPr>
            <a:r>
              <a:rPr lang="en-US" sz="1000" b="1" dirty="0">
                <a:solidFill>
                  <a:srgbClr val="556575"/>
                </a:solidFill>
                <a:latin typeface="Segoe UI"/>
              </a:rPr>
              <a:t>   </a:t>
            </a:r>
            <a:r>
              <a:rPr lang="en-US" sz="1000" b="1" dirty="0">
                <a:solidFill>
                  <a:srgbClr val="0A6ED1"/>
                </a:solidFill>
                <a:latin typeface="Segoe UI"/>
              </a:rPr>
              <a:t>▸  </a:t>
            </a:r>
            <a:r>
              <a:rPr lang="en-US" sz="1000" b="0" dirty="0">
                <a:solidFill>
                  <a:srgbClr val="556575"/>
                </a:solidFill>
                <a:latin typeface="Segoe UI"/>
              </a:rPr>
              <a:t>Detects System (HC_) env variables requiring remapping for CF migration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51960" y="2194560"/>
            <a:ext cx="3703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B2A4A"/>
                </a:solidFill>
                <a:latin typeface="Segoe UI"/>
              </a:rPr>
              <a:t>Security &amp; Infrastructure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60" y="2450592"/>
            <a:ext cx="3703320" cy="19050"/>
          </a:xfrm>
          <a:prstGeom prst="rect">
            <a:avLst/>
          </a:prstGeom>
          <a:solidFill>
            <a:srgbClr val="0A6E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251960" y="2542032"/>
            <a:ext cx="3703320" cy="387705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89120" y="2615184"/>
            <a:ext cx="3429000" cy="3831336"/>
          </a:xfrm>
          <a:prstGeom prst="rect">
            <a:avLst/>
          </a:prstGeom>
          <a:noFill/>
        </p:spPr>
        <p:txBody>
          <a:bodyPr wrap="square"/>
          <a:lstStyle/>
          <a:p>
            <a:endParaRPr dirty="0"/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100" b="1" dirty="0">
                <a:solidFill>
                  <a:srgbClr val="0A6ED1"/>
                </a:solidFill>
                <a:latin typeface="Segoe UI"/>
              </a:rPr>
              <a:t>•  </a:t>
            </a:r>
            <a:r>
              <a:rPr sz="1100" b="1" dirty="0">
                <a:solidFill>
                  <a:srgbClr val="1B2A4A"/>
                </a:solidFill>
                <a:latin typeface="Segoe UI"/>
              </a:rPr>
              <a:t>Connected Systems &amp; Adapter Inventory</a:t>
            </a:r>
            <a:endParaRPr lang="en-US" sz="1100" b="1" dirty="0">
              <a:solidFill>
                <a:srgbClr val="1B2A4A"/>
              </a:solidFill>
              <a:latin typeface="Segoe UI"/>
            </a:endParaRP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lang="en-IN" sz="1100" b="1" dirty="0">
                <a:solidFill>
                  <a:srgbClr val="1B2A4A"/>
                </a:solidFill>
                <a:latin typeface="Segoe UI"/>
              </a:rPr>
              <a:t>    </a:t>
            </a:r>
            <a:r>
              <a:rPr sz="1000" b="1" dirty="0">
                <a:solidFill>
                  <a:srgbClr val="0A6ED1"/>
                </a:solidFill>
                <a:latin typeface="Segoe UI"/>
              </a:rPr>
              <a:t>▸  </a:t>
            </a:r>
            <a:r>
              <a:rPr sz="1000" b="0" dirty="0">
                <a:solidFill>
                  <a:srgbClr val="556575"/>
                </a:solidFill>
                <a:latin typeface="Segoe UI"/>
              </a:rPr>
              <a:t>Extracts all sender/receiver endpoints from IFLW channel definitions</a:t>
            </a:r>
            <a:endParaRPr lang="en-US" sz="1000" b="0" dirty="0">
              <a:solidFill>
                <a:srgbClr val="556575"/>
              </a:solidFill>
              <a:latin typeface="Segoe UI"/>
            </a:endParaRP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lang="en-IN" sz="1000">
                <a:solidFill>
                  <a:srgbClr val="556575"/>
                </a:solidFill>
                <a:latin typeface="Segoe UI"/>
              </a:rPr>
              <a:t>     </a:t>
            </a:r>
            <a:r>
              <a:rPr sz="1000" b="1">
                <a:solidFill>
                  <a:srgbClr val="0A6ED1"/>
                </a:solidFill>
                <a:latin typeface="Segoe UI"/>
              </a:rPr>
              <a:t>▸  </a:t>
            </a:r>
            <a:r>
              <a:rPr sz="1000" b="0" dirty="0">
                <a:solidFill>
                  <a:srgbClr val="556575"/>
                </a:solidFill>
                <a:latin typeface="Segoe UI"/>
              </a:rPr>
              <a:t>30+ adapter types: HTTP, SOAP, RFC, OData, JMS, SFTP, AS2, JDBC, etc.</a:t>
            </a:r>
          </a:p>
          <a:p>
            <a:pPr lvl="1">
              <a:spcBef>
                <a:spcPts val="0"/>
              </a:spcBef>
              <a:spcAft>
                <a:spcPts val="200"/>
              </a:spcAft>
            </a:pPr>
            <a:r>
              <a:rPr sz="1000" b="1" dirty="0">
                <a:solidFill>
                  <a:srgbClr val="0A6ED1"/>
                </a:solidFill>
                <a:latin typeface="Segoe UI"/>
              </a:rPr>
              <a:t>▸  </a:t>
            </a:r>
            <a:r>
              <a:rPr sz="1000" b="0" dirty="0">
                <a:solidFill>
                  <a:srgbClr val="556575"/>
                </a:solidFill>
                <a:latin typeface="Segoe UI"/>
              </a:rPr>
              <a:t>Maps systems to IFlows with direction indicators</a:t>
            </a:r>
          </a:p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1100" b="1" dirty="0">
                <a:solidFill>
                  <a:srgbClr val="0A6ED1"/>
                </a:solidFill>
                <a:latin typeface="Segoe UI"/>
              </a:rPr>
              <a:t>•  </a:t>
            </a:r>
            <a:r>
              <a:rPr sz="1100" b="1" dirty="0">
                <a:solidFill>
                  <a:srgbClr val="1B2A4A"/>
                </a:solidFill>
                <a:latin typeface="Segoe UI"/>
              </a:rPr>
              <a:t>Certificate-to-User Mapping (NEO)</a:t>
            </a:r>
          </a:p>
          <a:p>
            <a:pPr lvl="1">
              <a:spcBef>
                <a:spcPts val="0"/>
              </a:spcBef>
              <a:spcAft>
                <a:spcPts val="200"/>
              </a:spcAft>
            </a:pPr>
            <a:r>
              <a:rPr sz="1000" b="1" dirty="0">
                <a:solidFill>
                  <a:srgbClr val="0A6ED1"/>
                </a:solidFill>
                <a:latin typeface="Segoe UI"/>
              </a:rPr>
              <a:t>▸  </a:t>
            </a:r>
            <a:r>
              <a:rPr sz="1000" b="0" dirty="0">
                <a:solidFill>
                  <a:srgbClr val="556575"/>
                </a:solidFill>
                <a:latin typeface="Segoe UI"/>
              </a:rPr>
              <a:t>Analyzes certificate-user mappings for NEO tenants</a:t>
            </a:r>
          </a:p>
          <a:p>
            <a:pPr lvl="1">
              <a:spcBef>
                <a:spcPts val="0"/>
              </a:spcBef>
              <a:spcAft>
                <a:spcPts val="200"/>
              </a:spcAft>
            </a:pPr>
            <a:r>
              <a:rPr sz="1000" b="1" dirty="0">
                <a:solidFill>
                  <a:srgbClr val="0A6ED1"/>
                </a:solidFill>
                <a:latin typeface="Segoe UI"/>
              </a:rPr>
              <a:t>▸  </a:t>
            </a:r>
            <a:r>
              <a:rPr sz="1000" b="0" dirty="0">
                <a:solidFill>
                  <a:srgbClr val="556575"/>
                </a:solidFill>
                <a:latin typeface="Segoe UI"/>
              </a:rPr>
              <a:t>Tracks issuer, subject, serial number &amp; validity periods</a:t>
            </a:r>
          </a:p>
          <a:p>
            <a:pPr lvl="1">
              <a:spcBef>
                <a:spcPts val="0"/>
              </a:spcBef>
              <a:spcAft>
                <a:spcPts val="200"/>
              </a:spcAft>
            </a:pPr>
            <a:r>
              <a:rPr sz="1000" b="1" dirty="0">
                <a:solidFill>
                  <a:srgbClr val="0A6ED1"/>
                </a:solidFill>
                <a:latin typeface="Segoe UI"/>
              </a:rPr>
              <a:t>▸  </a:t>
            </a:r>
            <a:r>
              <a:rPr sz="1000" b="0" dirty="0">
                <a:solidFill>
                  <a:srgbClr val="556575"/>
                </a:solidFill>
                <a:latin typeface="Segoe UI"/>
              </a:rPr>
              <a:t>Status: Active / Expiring Soon (&lt;90 days) / Expired</a:t>
            </a:r>
          </a:p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1100" b="1" dirty="0">
                <a:solidFill>
                  <a:srgbClr val="0A6ED1"/>
                </a:solidFill>
                <a:latin typeface="Segoe UI"/>
              </a:rPr>
              <a:t>•  </a:t>
            </a:r>
            <a:r>
              <a:rPr sz="1100" b="1" dirty="0">
                <a:solidFill>
                  <a:srgbClr val="1B2A4A"/>
                </a:solidFill>
                <a:latin typeface="Segoe UI"/>
              </a:rPr>
              <a:t>Keystore Certificate Expiry Check</a:t>
            </a:r>
          </a:p>
          <a:p>
            <a:pPr lvl="1">
              <a:spcBef>
                <a:spcPts val="0"/>
              </a:spcBef>
              <a:spcAft>
                <a:spcPts val="200"/>
              </a:spcAft>
            </a:pPr>
            <a:r>
              <a:rPr sz="1000" b="1" dirty="0">
                <a:solidFill>
                  <a:srgbClr val="0A6ED1"/>
                </a:solidFill>
                <a:latin typeface="Segoe UI"/>
              </a:rPr>
              <a:t>▸  </a:t>
            </a:r>
            <a:r>
              <a:rPr sz="1000" b="0" dirty="0">
                <a:solidFill>
                  <a:srgbClr val="556575"/>
                </a:solidFill>
                <a:latin typeface="Segoe UI"/>
              </a:rPr>
              <a:t>Monitors all keystore entries (Certificates &amp; Key Pairs)</a:t>
            </a:r>
          </a:p>
          <a:p>
            <a:pPr lvl="1">
              <a:spcBef>
                <a:spcPts val="0"/>
              </a:spcBef>
              <a:spcAft>
                <a:spcPts val="200"/>
              </a:spcAft>
            </a:pPr>
            <a:r>
              <a:rPr sz="1000" b="1" dirty="0">
                <a:solidFill>
                  <a:srgbClr val="0A6ED1"/>
                </a:solidFill>
                <a:latin typeface="Segoe UI"/>
              </a:rPr>
              <a:t>▸  </a:t>
            </a:r>
            <a:r>
              <a:rPr sz="1000" b="0" dirty="0">
                <a:solidFill>
                  <a:srgbClr val="556575"/>
                </a:solidFill>
                <a:latin typeface="Segoe UI"/>
              </a:rPr>
              <a:t>Calculates days-to-expiry with color-coded status badges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2194560"/>
            <a:ext cx="3703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B2A4A"/>
                </a:solidFill>
                <a:latin typeface="Segoe UI"/>
              </a:rPr>
              <a:t>Migration Readiness Scoring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60" y="2450592"/>
            <a:ext cx="3703320" cy="19050"/>
          </a:xfrm>
          <a:prstGeom prst="rect">
            <a:avLst/>
          </a:prstGeom>
          <a:solidFill>
            <a:srgbClr val="0A6E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138160" y="2542032"/>
            <a:ext cx="3703320" cy="387705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75320" y="2615184"/>
            <a:ext cx="3429000" cy="3520440"/>
          </a:xfrm>
          <a:prstGeom prst="rect">
            <a:avLst/>
          </a:prstGeom>
          <a:noFill/>
        </p:spPr>
        <p:txBody>
          <a:bodyPr wrap="square"/>
          <a:lstStyle/>
          <a:p>
            <a:endParaRPr dirty="0"/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100" b="1" dirty="0">
                <a:solidFill>
                  <a:srgbClr val="0A6ED1"/>
                </a:solidFill>
                <a:latin typeface="Segoe UI"/>
              </a:rPr>
              <a:t>•  </a:t>
            </a:r>
            <a:r>
              <a:rPr sz="1100" b="1" dirty="0">
                <a:solidFill>
                  <a:srgbClr val="1B2A4A"/>
                </a:solidFill>
                <a:latin typeface="Segoe UI"/>
              </a:rPr>
              <a:t>Per-Artifact Readiness</a:t>
            </a:r>
          </a:p>
          <a:p>
            <a:pPr lvl="1">
              <a:spcBef>
                <a:spcPts val="0"/>
              </a:spcBef>
              <a:spcAft>
                <a:spcPts val="200"/>
              </a:spcAft>
            </a:pPr>
            <a:r>
              <a:rPr sz="1000" b="1" dirty="0">
                <a:solidFill>
                  <a:srgbClr val="0A6ED1"/>
                </a:solidFill>
                <a:latin typeface="Segoe UI"/>
              </a:rPr>
              <a:t>▸  </a:t>
            </a:r>
            <a:r>
              <a:rPr sz="1000" b="0" dirty="0">
                <a:solidFill>
                  <a:srgbClr val="556575"/>
                </a:solidFill>
                <a:latin typeface="Segoe UI"/>
              </a:rPr>
              <a:t>Scores each IFlow, Script Collection, Message Mapping &amp; Value Mapping</a:t>
            </a:r>
          </a:p>
          <a:p>
            <a:pPr lvl="1">
              <a:spcBef>
                <a:spcPts val="100"/>
              </a:spcBef>
              <a:spcAft>
                <a:spcPts val="0"/>
              </a:spcAft>
            </a:pPr>
            <a:r>
              <a:rPr sz="1000" dirty="0">
                <a:solidFill>
                  <a:srgbClr val="107C41"/>
                </a:solidFill>
                <a:latin typeface="Segoe UI"/>
              </a:rPr>
              <a:t>● </a:t>
            </a:r>
            <a:r>
              <a:rPr sz="950" dirty="0">
                <a:solidFill>
                  <a:srgbClr val="556575"/>
                </a:solidFill>
                <a:latin typeface="Segoe UI"/>
              </a:rPr>
              <a:t>Ready   </a:t>
            </a:r>
            <a:r>
              <a:rPr sz="1000" dirty="0">
                <a:solidFill>
                  <a:srgbClr val="E68A00"/>
                </a:solidFill>
                <a:latin typeface="Segoe UI"/>
              </a:rPr>
              <a:t>● </a:t>
            </a:r>
            <a:r>
              <a:rPr sz="950" dirty="0">
                <a:solidFill>
                  <a:srgbClr val="556575"/>
                </a:solidFill>
                <a:latin typeface="Segoe UI"/>
              </a:rPr>
              <a:t>Needs Check   </a:t>
            </a:r>
            <a:r>
              <a:rPr sz="1000" dirty="0">
                <a:solidFill>
                  <a:srgbClr val="DC3545"/>
                </a:solidFill>
                <a:latin typeface="Segoe UI"/>
              </a:rPr>
              <a:t>● </a:t>
            </a:r>
            <a:r>
              <a:rPr sz="950" dirty="0">
                <a:solidFill>
                  <a:srgbClr val="556575"/>
                </a:solidFill>
                <a:latin typeface="Segoe UI"/>
              </a:rPr>
              <a:t>Action Needed   </a:t>
            </a:r>
          </a:p>
          <a:p>
            <a:pPr lvl="1">
              <a:spcBef>
                <a:spcPts val="100"/>
              </a:spcBef>
              <a:spcAft>
                <a:spcPts val="200"/>
              </a:spcAft>
            </a:pPr>
            <a:r>
              <a:rPr sz="1000" b="1" dirty="0">
                <a:solidFill>
                  <a:srgbClr val="0A6ED1"/>
                </a:solidFill>
                <a:latin typeface="Segoe UI"/>
              </a:rPr>
              <a:t>▸  </a:t>
            </a:r>
            <a:r>
              <a:rPr sz="1000" b="0" dirty="0">
                <a:solidFill>
                  <a:srgbClr val="556575"/>
                </a:solidFill>
                <a:latin typeface="Segoe UI"/>
              </a:rPr>
              <a:t>Checks: Version status, Deployment sync, HC_ variable usage</a:t>
            </a:r>
          </a:p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1100" b="1" dirty="0">
                <a:solidFill>
                  <a:srgbClr val="0A6ED1"/>
                </a:solidFill>
                <a:latin typeface="Segoe UI"/>
              </a:rPr>
              <a:t>•  </a:t>
            </a:r>
            <a:r>
              <a:rPr sz="1100" b="1" dirty="0">
                <a:solidFill>
                  <a:srgbClr val="1B2A4A"/>
                </a:solidFill>
                <a:latin typeface="Segoe UI"/>
              </a:rPr>
              <a:t>Per-Package Readiness</a:t>
            </a:r>
          </a:p>
          <a:p>
            <a:pPr lvl="1">
              <a:spcBef>
                <a:spcPts val="0"/>
              </a:spcBef>
              <a:spcAft>
                <a:spcPts val="200"/>
              </a:spcAft>
            </a:pPr>
            <a:r>
              <a:rPr sz="1000" b="1" dirty="0">
                <a:solidFill>
                  <a:srgbClr val="0A6ED1"/>
                </a:solidFill>
                <a:latin typeface="Segoe UI"/>
              </a:rPr>
              <a:t>▸  </a:t>
            </a:r>
            <a:r>
              <a:rPr sz="1000" b="0" dirty="0">
                <a:solidFill>
                  <a:srgbClr val="556575"/>
                </a:solidFill>
                <a:latin typeface="Segoe UI"/>
              </a:rPr>
              <a:t>Classifies: Standard (Read-Only) / Standard (Editable) / Custom</a:t>
            </a:r>
          </a:p>
          <a:p>
            <a:pPr lvl="1">
              <a:spcBef>
                <a:spcPts val="0"/>
              </a:spcBef>
              <a:spcAft>
                <a:spcPts val="200"/>
              </a:spcAft>
            </a:pPr>
            <a:r>
              <a:rPr sz="1000" b="1" dirty="0">
                <a:solidFill>
                  <a:srgbClr val="0A6ED1"/>
                </a:solidFill>
                <a:latin typeface="Segoe UI"/>
              </a:rPr>
              <a:t>▸  </a:t>
            </a:r>
            <a:r>
              <a:rPr sz="1000" b="0" dirty="0">
                <a:solidFill>
                  <a:srgbClr val="556575"/>
                </a:solidFill>
                <a:latin typeface="Segoe UI"/>
              </a:rPr>
              <a:t>Standard: Compares against SAP Discover + aggregates artifact scores</a:t>
            </a:r>
          </a:p>
          <a:p>
            <a:pPr lvl="1">
              <a:spcBef>
                <a:spcPts val="0"/>
              </a:spcBef>
              <a:spcAft>
                <a:spcPts val="200"/>
              </a:spcAft>
            </a:pPr>
            <a:r>
              <a:rPr sz="1000" b="1" dirty="0">
                <a:solidFill>
                  <a:srgbClr val="0A6ED1"/>
                </a:solidFill>
                <a:latin typeface="Segoe UI"/>
              </a:rPr>
              <a:t>▸  </a:t>
            </a:r>
            <a:r>
              <a:rPr sz="1000" b="0" dirty="0">
                <a:solidFill>
                  <a:srgbClr val="556575"/>
                </a:solidFill>
                <a:latin typeface="Segoe UI"/>
              </a:rPr>
              <a:t>Custom: Evaluates drafts, HC_ variables &amp; deployment completeness</a:t>
            </a:r>
          </a:p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1100" b="1" dirty="0">
                <a:solidFill>
                  <a:srgbClr val="0A6ED1"/>
                </a:solidFill>
                <a:latin typeface="Segoe UI"/>
              </a:rPr>
              <a:t>•  </a:t>
            </a:r>
            <a:r>
              <a:rPr sz="1100" b="1" dirty="0">
                <a:solidFill>
                  <a:srgbClr val="1B2A4A"/>
                </a:solidFill>
                <a:latin typeface="Segoe UI"/>
              </a:rPr>
              <a:t>Interactive Report Dashboard</a:t>
            </a:r>
          </a:p>
          <a:p>
            <a:pPr lvl="1">
              <a:spcBef>
                <a:spcPts val="0"/>
              </a:spcBef>
              <a:spcAft>
                <a:spcPts val="200"/>
              </a:spcAft>
            </a:pPr>
            <a:r>
              <a:rPr sz="1000" b="1" dirty="0">
                <a:solidFill>
                  <a:srgbClr val="0A6ED1"/>
                </a:solidFill>
                <a:latin typeface="Segoe UI"/>
              </a:rPr>
              <a:t>▸  </a:t>
            </a:r>
            <a:r>
              <a:rPr sz="1000" b="0" dirty="0">
                <a:solidFill>
                  <a:srgbClr val="556575"/>
                </a:solidFill>
                <a:latin typeface="Segoe UI"/>
              </a:rPr>
              <a:t>HTML report with 8 tabbed views, drill-down modals &amp; Chart.js visualizations</a:t>
            </a:r>
          </a:p>
          <a:p>
            <a:pPr lvl="1">
              <a:spcBef>
                <a:spcPts val="0"/>
              </a:spcBef>
              <a:spcAft>
                <a:spcPts val="200"/>
              </a:spcAft>
            </a:pPr>
            <a:r>
              <a:rPr sz="1000" b="1" dirty="0">
                <a:solidFill>
                  <a:srgbClr val="0A6ED1"/>
                </a:solidFill>
                <a:latin typeface="Segoe UI"/>
              </a:rPr>
              <a:t>▸  </a:t>
            </a:r>
            <a:r>
              <a:rPr sz="1000" b="0" dirty="0">
                <a:solidFill>
                  <a:srgbClr val="556575"/>
                </a:solidFill>
                <a:latin typeface="Segoe UI"/>
              </a:rPr>
              <a:t>Readiness distribution charts with click-through to artifact details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57200" y="655624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A9AAA"/>
                </a:solidFill>
                <a:latin typeface="Segoe UI"/>
              </a:defRPr>
            </a:pPr>
            <a:r>
              <a:rPr sz="800">
                <a:solidFill>
                  <a:srgbClr val="8A9AAA"/>
                </a:solidFill>
                <a:latin typeface="Segoe UI"/>
              </a:rPr>
              <a:t>SAP Cloud Integration Analyzer Tool  |  NEO-to-CF Migration Assessment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0" y="6556248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A9AAA"/>
                </a:solidFill>
                <a:latin typeface="Segoe UI"/>
              </a:defRPr>
            </a:pPr>
            <a:r>
              <a:rPr sz="800">
                <a:solidFill>
                  <a:srgbClr val="8A9AAA"/>
                </a:solidFill>
                <a:latin typeface="Segoe UI"/>
              </a:rPr>
              <a:t>Modes: FULL (Download + Analyze + Report)  |  REPORT_ONLY (from existing DB)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0cf7ac0a-4681-4823-ab0b-04ef02c5f873}" enabled="1" method="Standard" siteId="{42f7676c-f455-423c-82f6-dc2d99791af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423</Words>
  <Application>Microsoft Office PowerPoint</Application>
  <PresentationFormat>Widescreen</PresentationFormat>
  <Paragraphs>43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Segoe UI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Jain, Vishal</cp:lastModifiedBy>
  <cp:revision>3</cp:revision>
  <dcterms:created xsi:type="dcterms:W3CDTF">2013-01-27T09:14:16Z</dcterms:created>
  <dcterms:modified xsi:type="dcterms:W3CDTF">2026-03-18T08:54:12Z</dcterms:modified>
  <cp:category/>
</cp:coreProperties>
</file>